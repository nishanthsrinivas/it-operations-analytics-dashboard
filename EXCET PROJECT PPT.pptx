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82" r:id="rId5"/>
    <p:sldId id="259" r:id="rId6"/>
    <p:sldId id="260" r:id="rId7"/>
    <p:sldId id="261" r:id="rId8"/>
    <p:sldId id="262" r:id="rId9"/>
    <p:sldId id="283" r:id="rId10"/>
    <p:sldId id="284" r:id="rId11"/>
    <p:sldId id="285" r:id="rId12"/>
    <p:sldId id="286" r:id="rId13"/>
    <p:sldId id="263" r:id="rId14"/>
    <p:sldId id="264" r:id="rId15"/>
    <p:sldId id="266" r:id="rId16"/>
    <p:sldId id="267" r:id="rId17"/>
    <p:sldId id="276" r:id="rId18"/>
    <p:sldId id="278" r:id="rId19"/>
    <p:sldId id="281" r:id="rId20"/>
  </p:sldIdLst>
  <p:sldSz cx="24387175" cy="13716000"/>
  <p:notesSz cx="13716000" cy="24387175"/>
  <p:embeddedFontLst>
    <p:embeddedFont>
      <p:font typeface="Algerian" panose="04020705040A02060702" pitchFamily="82" charset="0"/>
      <p:regular r:id="rId22"/>
    </p:embeddedFont>
    <p:embeddedFont>
      <p:font typeface="Orbitron" panose="020B0604020202020204" charset="0"/>
      <p:bold r:id="rId23"/>
    </p:embeddedFont>
    <p:embeddedFont>
      <p:font typeface="Orbitron Black" panose="020B0604020202020204" charset="0"/>
      <p:bold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iGpD/i+DpUwcM2y2S7UJA3LDzz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66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625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375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639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0441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1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10701112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1017699" y="5196253"/>
            <a:ext cx="13369349" cy="320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12800"/>
              <a:buFont typeface="Orbitron Black"/>
              <a:buNone/>
            </a:pPr>
            <a:r>
              <a:rPr lang="en-US" sz="8000" dirty="0">
                <a:solidFill>
                  <a:schemeClr val="bg1"/>
                </a:solidFill>
                <a:latin typeface="Algerian" panose="04020705040A02060702" pitchFamily="82" charset="0"/>
              </a:rPr>
              <a:t>              </a:t>
            </a:r>
            <a:r>
              <a:rPr lang="en-US" sz="8000" dirty="0">
                <a:solidFill>
                  <a:srgbClr val="00FFFF"/>
                </a:solidFill>
                <a:latin typeface="Orbitron Black" panose="020B0604020202020204" charset="0"/>
              </a:rPr>
              <a:t>IT Support    Performance Analysis</a:t>
            </a:r>
            <a:endParaRPr sz="8000" b="0" i="0" u="none" strike="noStrike" cap="none" dirty="0">
              <a:solidFill>
                <a:srgbClr val="00FFFF"/>
              </a:solidFill>
              <a:latin typeface="Orbitron Black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529315" y="7658098"/>
            <a:ext cx="14174319" cy="99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Poppins SemiBold"/>
              <a:buNone/>
            </a:pPr>
            <a:r>
              <a:rPr lang="en-US" sz="3600" dirty="0">
                <a:solidFill>
                  <a:schemeClr val="bg1"/>
                </a:solidFill>
                <a:latin typeface="Orbitron Black" panose="020B0604020202020204" charset="0"/>
              </a:rPr>
              <a:t>  Improving Efficiency, Satisfaction &amp; Decision Making</a:t>
            </a:r>
            <a:endParaRPr sz="3600" b="0" i="0" u="none" strike="noStrike" cap="none" dirty="0">
              <a:solidFill>
                <a:schemeClr val="bg1"/>
              </a:solidFill>
              <a:latin typeface="Orbitron Black" panose="020B060402020202020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6511" y="-6350"/>
            <a:ext cx="11494937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274277" y="1143000"/>
            <a:ext cx="20116800" cy="258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12800"/>
              <a:buFont typeface="Orbitron Black"/>
              <a:buNone/>
            </a:pPr>
            <a:r>
              <a:rPr lang="en-US" sz="9600" dirty="0">
                <a:solidFill>
                  <a:srgbClr val="00FFFF"/>
                </a:solidFill>
                <a:latin typeface="Orbitron Black" panose="020B0604020202020204" charset="0"/>
              </a:rPr>
              <a:t>Why This Analysis Matters ?</a:t>
            </a:r>
            <a:endParaRPr sz="12800" b="0" i="0" u="none" strike="noStrike" cap="none" dirty="0">
              <a:solidFill>
                <a:srgbClr val="00FFFF"/>
              </a:solidFill>
              <a:latin typeface="Orbitron Black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385473" y="5194300"/>
            <a:ext cx="7731033" cy="501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91288" y="2971800"/>
            <a:ext cx="10095760" cy="107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9B6366-1A03-E570-37AC-631BD98AA047}"/>
              </a:ext>
            </a:extLst>
          </p:cNvPr>
          <p:cNvSpPr txBox="1"/>
          <p:nvPr/>
        </p:nvSpPr>
        <p:spPr>
          <a:xfrm>
            <a:off x="445475" y="8265181"/>
            <a:ext cx="1702191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Orbitron Black" panose="020B0604020202020204" charset="0"/>
              </a:rPr>
              <a:t>Problem Statement</a:t>
            </a:r>
          </a:p>
          <a:p>
            <a:pPr marL="685800" marR="0" lvl="0" indent="-6858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Increasing IT support demand ⚠️</a:t>
            </a:r>
          </a:p>
          <a:p>
            <a:pPr marL="685800" marR="0" lvl="0" indent="-6858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Delays in ticket resolution (~4.55 days) ⏱️ </a:t>
            </a:r>
          </a:p>
          <a:p>
            <a:pPr marL="685800" marR="0" lvl="0" indent="-6858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Need to improve agent efficiency </a:t>
            </a:r>
            <a:r>
              <a:rPr lang="en-US" sz="4400" dirty="0">
                <a:latin typeface="Orbitron Black" panose="020B0604020202020204" charset="0"/>
              </a:rPr>
              <a:t>📊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Orbitron Black" panose="020B0604020202020204" charset="0"/>
            </a:endParaRPr>
          </a:p>
          <a:p>
            <a:pPr marL="685800" marR="0" lvl="0" indent="-6858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Maintain high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satisfactioN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Orbitron Black" panose="020B0604020202020204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E12E492-ED20-98D4-CFD1-9B00D9F9B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75" y="2971800"/>
            <a:ext cx="194134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Orbitron Black" panose="020B0604020202020204" charset="0"/>
              </a:rPr>
              <a:t>Executive Summary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Ticket demand is increasing steadily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Avg resolution time is 4.55 days (optimization opportunity)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Performance varies across agents and categories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System &amp; software issues take longest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Key Solution: Training + Automation (not hiring)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86670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009468" y="707625"/>
            <a:ext cx="16926982" cy="19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12800"/>
              <a:buFont typeface="Orbitron Black"/>
              <a:buNone/>
            </a:pPr>
            <a:r>
              <a:rPr lang="en-US" sz="12800" b="0" i="0" u="none" strike="noStrike" cap="none" dirty="0">
                <a:solidFill>
                  <a:srgbClr val="00E3E4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Project Objective</a:t>
            </a:r>
            <a:endParaRPr lang="en-US" sz="1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814902" y="4051300"/>
            <a:ext cx="7316114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566720" y="4051300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901098" y="4361880"/>
            <a:ext cx="952619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01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643930" y="4127500"/>
            <a:ext cx="5487086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8380559" y="4546521"/>
            <a:ext cx="9175524" cy="62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Count of Ticket ID by Time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6161789" y="4051300"/>
            <a:ext cx="7316114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5521339" y="4076741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5791036" y="4381500"/>
            <a:ext cx="1219352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02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8112464" y="4127500"/>
            <a:ext cx="5487086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7454253" y="4448098"/>
            <a:ext cx="6717712" cy="10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Count of Tickets by Request Category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814902" y="7035800"/>
            <a:ext cx="7316114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706218" y="7103045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920350" y="7409229"/>
            <a:ext cx="1219352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03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0643930" y="7112000"/>
            <a:ext cx="5487086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8542352" y="7643732"/>
            <a:ext cx="6667709" cy="66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Satisfaction Rate by Time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6283435" y="7035800"/>
            <a:ext cx="7316114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5737267" y="7017564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6023053" y="7341902"/>
            <a:ext cx="1168546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04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8112464" y="7112000"/>
            <a:ext cx="5487086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7556083" y="7556582"/>
            <a:ext cx="6909789" cy="110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Average Resolution Time by Request Category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814902" y="10020300"/>
            <a:ext cx="7316114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0643930" y="10096500"/>
            <a:ext cx="5487086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6283435" y="10020300"/>
            <a:ext cx="7316114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8112464" y="10096500"/>
            <a:ext cx="5487086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7457" y="2997200"/>
            <a:ext cx="7081135" cy="89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3">
            <a:extLst>
              <a:ext uri="{FF2B5EF4-FFF2-40B4-BE49-F238E27FC236}">
                <a16:creationId xmlns:a16="http://schemas.microsoft.com/office/drawing/2014/main" id="{859C5E98-4130-81CA-F209-5A5626EDE5A3}"/>
              </a:ext>
            </a:extLst>
          </p:cNvPr>
          <p:cNvSpPr/>
          <p:nvPr/>
        </p:nvSpPr>
        <p:spPr>
          <a:xfrm>
            <a:off x="15737266" y="10268763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2;p3">
            <a:extLst>
              <a:ext uri="{FF2B5EF4-FFF2-40B4-BE49-F238E27FC236}">
                <a16:creationId xmlns:a16="http://schemas.microsoft.com/office/drawing/2014/main" id="{49F179D1-722E-9E59-4113-5F2BF2201682}"/>
              </a:ext>
            </a:extLst>
          </p:cNvPr>
          <p:cNvSpPr/>
          <p:nvPr/>
        </p:nvSpPr>
        <p:spPr>
          <a:xfrm>
            <a:off x="6724485" y="10410825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3;p3">
            <a:extLst>
              <a:ext uri="{FF2B5EF4-FFF2-40B4-BE49-F238E27FC236}">
                <a16:creationId xmlns:a16="http://schemas.microsoft.com/office/drawing/2014/main" id="{4DF3741E-34DE-9977-1487-AC23AE8148CD}"/>
              </a:ext>
            </a:extLst>
          </p:cNvPr>
          <p:cNvSpPr/>
          <p:nvPr/>
        </p:nvSpPr>
        <p:spPr>
          <a:xfrm>
            <a:off x="16011357" y="10604500"/>
            <a:ext cx="1168546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06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3;p3">
            <a:extLst>
              <a:ext uri="{FF2B5EF4-FFF2-40B4-BE49-F238E27FC236}">
                <a16:creationId xmlns:a16="http://schemas.microsoft.com/office/drawing/2014/main" id="{43776B52-617B-EEDB-3328-62EEE345F2CB}"/>
              </a:ext>
            </a:extLst>
          </p:cNvPr>
          <p:cNvSpPr/>
          <p:nvPr/>
        </p:nvSpPr>
        <p:spPr>
          <a:xfrm>
            <a:off x="6967246" y="10741025"/>
            <a:ext cx="1168546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05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9;p3">
            <a:extLst>
              <a:ext uri="{FF2B5EF4-FFF2-40B4-BE49-F238E27FC236}">
                <a16:creationId xmlns:a16="http://schemas.microsoft.com/office/drawing/2014/main" id="{C5E71B32-B4E5-82B2-2633-4EBC5936BC94}"/>
              </a:ext>
            </a:extLst>
          </p:cNvPr>
          <p:cNvSpPr/>
          <p:nvPr/>
        </p:nvSpPr>
        <p:spPr>
          <a:xfrm>
            <a:off x="8581353" y="10983424"/>
            <a:ext cx="7959305" cy="108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Age Group by Satisfaction Rate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9;p3">
            <a:extLst>
              <a:ext uri="{FF2B5EF4-FFF2-40B4-BE49-F238E27FC236}">
                <a16:creationId xmlns:a16="http://schemas.microsoft.com/office/drawing/2014/main" id="{AA614CD4-B49D-2F2D-4F88-E14479D20630}"/>
              </a:ext>
            </a:extLst>
          </p:cNvPr>
          <p:cNvSpPr/>
          <p:nvPr/>
        </p:nvSpPr>
        <p:spPr>
          <a:xfrm>
            <a:off x="17637160" y="10831025"/>
            <a:ext cx="6556172" cy="108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Ticket Distribution by Severity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735691" y="1784350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011893" y="2132634"/>
            <a:ext cx="952619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01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612837" y="2268989"/>
            <a:ext cx="10001527" cy="65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1. Total Ticket Volume = 97498</a:t>
            </a:r>
            <a:endParaRPr lang="en-US"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66030" y="4258317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56851" y="4573131"/>
            <a:ext cx="1219352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02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12837" y="4674340"/>
            <a:ext cx="9050257" cy="9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2. 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 Average Resolution Time = 4.53 Days 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15522" y="6959600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936372" y="7253357"/>
            <a:ext cx="1219352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03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772330" y="7404272"/>
            <a:ext cx="9360508" cy="66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3. Satisfaction Rate by Time = 4.101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53625" y="9763767"/>
            <a:ext cx="1625803" cy="1625600"/>
          </a:xfrm>
          <a:prstGeom prst="roundRect">
            <a:avLst>
              <a:gd name="adj" fmla="val 781313"/>
            </a:avLst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72205" y="10093967"/>
            <a:ext cx="1168546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04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9;p3">
            <a:extLst>
              <a:ext uri="{FF2B5EF4-FFF2-40B4-BE49-F238E27FC236}">
                <a16:creationId xmlns:a16="http://schemas.microsoft.com/office/drawing/2014/main" id="{C336612C-C24F-C099-3031-A445375F19C8}"/>
              </a:ext>
            </a:extLst>
          </p:cNvPr>
          <p:cNvSpPr/>
          <p:nvPr/>
        </p:nvSpPr>
        <p:spPr>
          <a:xfrm>
            <a:off x="2833079" y="10218392"/>
            <a:ext cx="9360508" cy="66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4. Overloaded Tickets = 72382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9E4AA-52D4-DE3B-D79C-A54B63C81F8A}"/>
              </a:ext>
            </a:extLst>
          </p:cNvPr>
          <p:cNvSpPr txBox="1"/>
          <p:nvPr/>
        </p:nvSpPr>
        <p:spPr>
          <a:xfrm>
            <a:off x="7203046" y="338905"/>
            <a:ext cx="6977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Orbitron" panose="020B0604020202020204" charset="0"/>
              </a:rPr>
              <a:t>TOP KPI’S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D64E3-D4E5-CB26-E3D4-89AF3F95EAEE}"/>
              </a:ext>
            </a:extLst>
          </p:cNvPr>
          <p:cNvSpPr txBox="1"/>
          <p:nvPr/>
        </p:nvSpPr>
        <p:spPr>
          <a:xfrm>
            <a:off x="12193587" y="1840290"/>
            <a:ext cx="105095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  <a:cs typeface="Times New Roman" panose="02020603050405020304" pitchFamily="18" charset="0"/>
              </a:rPr>
              <a:t>Total number of IT support tickets raised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  <a:cs typeface="Times New Roman" panose="02020603050405020304" pitchFamily="18" charset="0"/>
              </a:rPr>
              <a:t>Represents overall workload of the IT support team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  <a:cs typeface="Times New Roman" panose="02020603050405020304" pitchFamily="18" charset="0"/>
              </a:rPr>
              <a:t>Helps in resource planning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CE21D-6720-E5C7-EBFC-37A358D83BE2}"/>
              </a:ext>
            </a:extLst>
          </p:cNvPr>
          <p:cNvSpPr txBox="1"/>
          <p:nvPr/>
        </p:nvSpPr>
        <p:spPr>
          <a:xfrm>
            <a:off x="12170459" y="4376695"/>
            <a:ext cx="105095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Average time taken to resolve tickets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Measures team efficiency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Lower resolution time indicates better performance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1F8C25-36D3-C097-9503-BF410F519D63}"/>
              </a:ext>
            </a:extLst>
          </p:cNvPr>
          <p:cNvSpPr txBox="1"/>
          <p:nvPr/>
        </p:nvSpPr>
        <p:spPr>
          <a:xfrm>
            <a:off x="12132838" y="7036590"/>
            <a:ext cx="105095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Overall employee satisfaction rating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Measures service quality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Higher score indicates better support experience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9BDF5C-69AC-963E-A9C3-22FB3BBC688F}"/>
              </a:ext>
            </a:extLst>
          </p:cNvPr>
          <p:cNvSpPr txBox="1"/>
          <p:nvPr/>
        </p:nvSpPr>
        <p:spPr>
          <a:xfrm>
            <a:off x="12132837" y="9992058"/>
            <a:ext cx="105095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Number of tickets exceeding normal workload capacity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Indicates pressure on IT support team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identify need for additional resources or process improvements </a:t>
            </a:r>
          </a:p>
        </p:txBody>
      </p:sp>
      <p:pic>
        <p:nvPicPr>
          <p:cNvPr id="22" name="Google Shape;85;p4" descr=" ">
            <a:extLst>
              <a:ext uri="{FF2B5EF4-FFF2-40B4-BE49-F238E27FC236}">
                <a16:creationId xmlns:a16="http://schemas.microsoft.com/office/drawing/2014/main" id="{4EF5E26B-63A4-171A-331A-DEBBAFB6A8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794238"/>
            <a:ext cx="24387175" cy="3921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492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794238"/>
            <a:ext cx="24387175" cy="39217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92179" y="1039608"/>
            <a:ext cx="21987090" cy="2654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rgbClr val="00E3E4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KEY INSIGHTS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1 – Count of Ticket ID by Time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DC0F2A-5904-8D17-01C4-03D3D03832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972832" y="3989324"/>
            <a:ext cx="1117925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Shows the number of tickets raised over a period of time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identify peak workload periods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Useful for resource planning and staffing decisions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Highlights trends in IT support demand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7C51-F84C-1B0A-3915-EC292F7A0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55" y="3989324"/>
            <a:ext cx="11034169" cy="550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3057232" y="2705100"/>
            <a:ext cx="990723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3057232" y="3594100"/>
            <a:ext cx="1625803" cy="1625600"/>
          </a:xfrm>
          <a:prstGeom prst="roundRect">
            <a:avLst>
              <a:gd name="adj" fmla="val 78188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5089486" y="2705100"/>
            <a:ext cx="7874984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3067260" y="3215658"/>
            <a:ext cx="10811724" cy="657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endParaRPr lang="en-US"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3080138" y="6919361"/>
            <a:ext cx="990723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3057232" y="7747000"/>
            <a:ext cx="1625803" cy="1625600"/>
          </a:xfrm>
          <a:prstGeom prst="roundRect">
            <a:avLst>
              <a:gd name="adj" fmla="val 78188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57232" y="7747000"/>
            <a:ext cx="1625803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5;p4" descr=" ">
            <a:extLst>
              <a:ext uri="{FF2B5EF4-FFF2-40B4-BE49-F238E27FC236}">
                <a16:creationId xmlns:a16="http://schemas.microsoft.com/office/drawing/2014/main" id="{9F36E65A-5765-1543-C811-75CB406B04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7" y="9794237"/>
            <a:ext cx="24387175" cy="39217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8;p4">
            <a:extLst>
              <a:ext uri="{FF2B5EF4-FFF2-40B4-BE49-F238E27FC236}">
                <a16:creationId xmlns:a16="http://schemas.microsoft.com/office/drawing/2014/main" id="{4CADB9EA-4C10-EDE1-5401-184EEF75E029}"/>
              </a:ext>
            </a:extLst>
          </p:cNvPr>
          <p:cNvSpPr/>
          <p:nvPr/>
        </p:nvSpPr>
        <p:spPr>
          <a:xfrm>
            <a:off x="406294" y="586689"/>
            <a:ext cx="23980754" cy="247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2 – Count of Tickets by Request Category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15EF4-DCAB-1A34-4E13-FD1000492AE3}"/>
              </a:ext>
            </a:extLst>
          </p:cNvPr>
          <p:cNvSpPr txBox="1"/>
          <p:nvPr/>
        </p:nvSpPr>
        <p:spPr>
          <a:xfrm>
            <a:off x="12834901" y="3909650"/>
            <a:ext cx="1210213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Displays ticket distribution across different request categories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Identifies most common IT issues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allocate resources to high-demand categories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Supports process improvement in frequently occurring issues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D5A5F-377C-604C-BFCC-28148C890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88" y="3717234"/>
            <a:ext cx="10842962" cy="6077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528F98-2BFA-4D2D-07C7-F7F42842F736}"/>
              </a:ext>
            </a:extLst>
          </p:cNvPr>
          <p:cNvSpPr txBox="1"/>
          <p:nvPr/>
        </p:nvSpPr>
        <p:spPr>
          <a:xfrm>
            <a:off x="1038351" y="1058686"/>
            <a:ext cx="235408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3 – Satisfaction Rate by Time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13B68F3-5DE5-2F5C-C900-C67A19AA80F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012587" y="3792874"/>
            <a:ext cx="1117925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Shows employee satisfaction trends over time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measure service quality improvement or decline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Identifies periods with low satisfaction levels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Supports decision-making for service improvements </a:t>
            </a:r>
          </a:p>
        </p:txBody>
      </p:sp>
      <p:pic>
        <p:nvPicPr>
          <p:cNvPr id="8" name="Google Shape;85;p4" descr=" ">
            <a:extLst>
              <a:ext uri="{FF2B5EF4-FFF2-40B4-BE49-F238E27FC236}">
                <a16:creationId xmlns:a16="http://schemas.microsoft.com/office/drawing/2014/main" id="{48E49DF4-0D29-74FD-F957-805FD0DBF2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7" y="9790572"/>
            <a:ext cx="24387175" cy="392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0FDC61-04F8-03F3-EFF3-9D0E4AD36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325" y="3925428"/>
            <a:ext cx="10849262" cy="6174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E2ABA-EAAA-1DD0-A863-AD97C18E19EB}"/>
              </a:ext>
            </a:extLst>
          </p:cNvPr>
          <p:cNvSpPr txBox="1"/>
          <p:nvPr/>
        </p:nvSpPr>
        <p:spPr>
          <a:xfrm>
            <a:off x="423172" y="402703"/>
            <a:ext cx="239640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</a:t>
            </a:r>
            <a:r>
              <a:rPr lang="en-US" sz="8000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4</a:t>
            </a: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 – Average Resolution Time by Request Category (Quarter Wise)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E30AAA-0354-D599-18FD-0E463519EE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784748" y="3573590"/>
            <a:ext cx="1117925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Displays average resolution time across categories quarterly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Identifies slow-performing categories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track performance improvement over time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Supports optimization of ticket resolution process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71C12-745F-ACF7-F74F-38735248C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0" y="3357162"/>
            <a:ext cx="11570397" cy="7357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E2ABA-EAAA-1DD0-A863-AD97C18E19EB}"/>
              </a:ext>
            </a:extLst>
          </p:cNvPr>
          <p:cNvSpPr txBox="1"/>
          <p:nvPr/>
        </p:nvSpPr>
        <p:spPr>
          <a:xfrm>
            <a:off x="423172" y="402703"/>
            <a:ext cx="239640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5 – Age Group by Satisfaction Rate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E30AAA-0354-D599-18FD-0E463519EE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6208" y="4064329"/>
            <a:ext cx="1117925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Shows satisfaction levels across different age groups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understand user experience by demographic group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Identifies groups with lower satisfaction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Supports targeted service improvements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6F5F39-03D9-75AB-D154-ED6A4EC62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227" y="3889923"/>
            <a:ext cx="9795016" cy="75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7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E2ABA-EAAA-1DD0-A863-AD97C18E19EB}"/>
              </a:ext>
            </a:extLst>
          </p:cNvPr>
          <p:cNvSpPr txBox="1"/>
          <p:nvPr/>
        </p:nvSpPr>
        <p:spPr>
          <a:xfrm>
            <a:off x="423172" y="402703"/>
            <a:ext cx="239640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6 – Ticket by Severity Rate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E30AAA-0354-D599-18FD-0E463519EE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6208" y="4741437"/>
            <a:ext cx="1117925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Displays distribution of tickets based on severity level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identify high-priority ticket volume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Assists in prioritizing urgent issues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Supports workload management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C5FF8-F5A4-2798-41A1-D48A98C9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14" y="3363621"/>
            <a:ext cx="9337816" cy="830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2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E2ABA-EAAA-1DD0-A863-AD97C18E19EB}"/>
              </a:ext>
            </a:extLst>
          </p:cNvPr>
          <p:cNvSpPr txBox="1"/>
          <p:nvPr/>
        </p:nvSpPr>
        <p:spPr>
          <a:xfrm>
            <a:off x="423172" y="402703"/>
            <a:ext cx="239640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7 – Distribution of Tickets Based on Satisfaction Score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E30AAA-0354-D599-18FD-0E463519EE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6208" y="4402883"/>
            <a:ext cx="1117925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Shows how satisfaction scores are distributed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Identifies overall service quality trends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Highlights frequency of low satisfaction ratings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improve customer experience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11FB1-53BA-8AAC-6B8A-96F9AD121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96" y="4402883"/>
            <a:ext cx="10215508" cy="69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E2ABA-EAAA-1DD0-A863-AD97C18E19EB}"/>
              </a:ext>
            </a:extLst>
          </p:cNvPr>
          <p:cNvSpPr txBox="1"/>
          <p:nvPr/>
        </p:nvSpPr>
        <p:spPr>
          <a:xfrm>
            <a:off x="423172" y="402703"/>
            <a:ext cx="239640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chemeClr val="bg1"/>
                </a:solidFill>
                <a:latin typeface="Orbitron Black" panose="020B0604020202020204" charset="0"/>
                <a:ea typeface="Calibri"/>
                <a:cs typeface="Calibri"/>
                <a:sym typeface="Calibri"/>
              </a:rPr>
              <a:t>Insight 8 – Distribution of Tickets Based on Satisfaction Score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E30AAA-0354-D599-18FD-0E463519EE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6208" y="4402883"/>
            <a:ext cx="1117925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Shows how satisfaction scores are distributed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Identifies overall service quality trends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Highlights frequency of low satisfaction ratings 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" panose="020B0604020202020204" charset="0"/>
              </a:rPr>
              <a:t>Helps improve customer experience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33C6C-65C6-4C9F-9BB0-A37CFCB7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97" y="4257522"/>
            <a:ext cx="11179255" cy="73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6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975" y="7937500"/>
            <a:ext cx="23790073" cy="57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18830" y="1354596"/>
            <a:ext cx="11468217" cy="115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2006851" y="2070100"/>
            <a:ext cx="6630229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420696" y="1438123"/>
            <a:ext cx="3901581" cy="83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Orbitron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Issue Type</a:t>
            </a:r>
            <a:endParaRPr lang="en-US"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006851" y="6858000"/>
            <a:ext cx="6630229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283092" y="4972050"/>
            <a:ext cx="13986632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👉 Problem → Too many repetitive tasks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👉 Insight → Most work is predictable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👉 Opportunity → Can be automated</a:t>
            </a:r>
            <a:endParaRPr lang="en-US"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77023" y="8087131"/>
            <a:ext cx="15067777" cy="291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 of the tickets are service requests rather than system failures → which means a large portion of work is repetitive → and this creates a strong opportunity for automation to reduce workload.</a:t>
            </a:r>
            <a:endParaRPr lang="en-US" sz="4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88402-78F7-024C-C0C8-DED23EA4A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23" y="2837240"/>
            <a:ext cx="1720947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85800" marR="0" lvl="0" indent="-685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Majority of tickets are 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requests (not errors)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 </a:t>
            </a:r>
          </a:p>
          <a:p>
            <a:pPr marL="685800" marR="0" lvl="0" indent="-685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Fewer critical failures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9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7048" cy="1093519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2091528" y="749300"/>
            <a:ext cx="20216693" cy="160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rgbClr val="00E3E4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Root Cause Analysis</a:t>
            </a:r>
            <a:endParaRPr lang="en-US" sz="8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146568" y="4025900"/>
            <a:ext cx="8205226" cy="8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2146568" y="4025900"/>
            <a:ext cx="8205226" cy="8204200"/>
          </a:xfrm>
          <a:prstGeom prst="ellipse">
            <a:avLst/>
          </a:prstGeom>
          <a:solidFill>
            <a:srgbClr val="00E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175397" y="5918200"/>
            <a:ext cx="6160270" cy="6159500"/>
          </a:xfrm>
          <a:prstGeom prst="ellipse">
            <a:avLst/>
          </a:prstGeom>
          <a:solidFill>
            <a:srgbClr val="2B6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204225" y="7797800"/>
            <a:ext cx="4089911" cy="408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12638080" y="3594100"/>
            <a:ext cx="8459257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2638080" y="3594100"/>
            <a:ext cx="1016127" cy="1016000"/>
          </a:xfrm>
          <a:prstGeom prst="roundRect">
            <a:avLst>
              <a:gd name="adj" fmla="val 1251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38080" y="35941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12638080" y="4914900"/>
            <a:ext cx="845925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2638080" y="6946900"/>
            <a:ext cx="8459257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2638080" y="6946900"/>
            <a:ext cx="1016127" cy="1016000"/>
          </a:xfrm>
          <a:prstGeom prst="roundRect">
            <a:avLst>
              <a:gd name="adj" fmla="val 1251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38080" y="69469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12638080" y="8267700"/>
            <a:ext cx="845925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2305833" y="8189254"/>
            <a:ext cx="10127176" cy="129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Orbitron Black" panose="020B0604020202020204" charset="0"/>
                <a:ea typeface="Poppins"/>
                <a:cs typeface="Poppins"/>
                <a:sym typeface="Poppins"/>
              </a:rPr>
              <a:t>👉 Problem is deeper than data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Orbitron Black" panose="020B0604020202020204" charset="0"/>
                <a:ea typeface="Poppins"/>
                <a:cs typeface="Poppins"/>
                <a:sym typeface="Poppins"/>
              </a:rPr>
              <a:t>👉 It’s about process inefficiency</a:t>
            </a:r>
            <a:endParaRPr lang="en-US" sz="4000" b="0" i="0" u="none" strike="noStrike" cap="none" dirty="0">
              <a:solidFill>
                <a:schemeClr val="dk1"/>
              </a:solidFill>
              <a:latin typeface="Orbitron Black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2638080" y="10299700"/>
            <a:ext cx="8459257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2638080" y="10299700"/>
            <a:ext cx="1016127" cy="1016000"/>
          </a:xfrm>
          <a:prstGeom prst="roundRect">
            <a:avLst>
              <a:gd name="adj" fmla="val 1251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38080" y="102997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12638080" y="11620500"/>
            <a:ext cx="845925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1444131" y="10329829"/>
            <a:ext cx="12564731" cy="263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lang="en-US" sz="36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issue is not just increasing workload → but how the work is being managed. Manual processes, uneven task distribution, and lack of automation are the key reasons behind inefficiency.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D5901-C45C-75A6-D729-BC966B35C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9095" y="4676375"/>
            <a:ext cx="1265936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Manual processes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Uneven workload distribution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Lack of automation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Skill gaps in handling complex issues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395" y="0"/>
            <a:ext cx="24387048" cy="109351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11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05813" y="0"/>
            <a:ext cx="6084060" cy="122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435883" y="531283"/>
            <a:ext cx="11451317" cy="160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rgbClr val="FFFFFF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Strategic Decisions</a:t>
            </a:r>
            <a:endParaRPr lang="en-US" sz="8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244756" y="5029200"/>
            <a:ext cx="857357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44756" y="5029200"/>
            <a:ext cx="8573572" cy="18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244756" y="5340350"/>
            <a:ext cx="2502213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3950194" y="5029200"/>
            <a:ext cx="5868133" cy="18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244756" y="7531100"/>
            <a:ext cx="8573572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244756" y="7823200"/>
            <a:ext cx="2667333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115314" y="7531100"/>
            <a:ext cx="5703013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244756" y="9994900"/>
            <a:ext cx="8573572" cy="18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244756" y="10306050"/>
            <a:ext cx="2680035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128016" y="9994900"/>
            <a:ext cx="5690311" cy="18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DFE0A0-88F9-B77C-EF68-867E65279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369348"/>
              </p:ext>
            </p:extLst>
          </p:nvPr>
        </p:nvGraphicFramePr>
        <p:xfrm>
          <a:off x="190395" y="3355340"/>
          <a:ext cx="16258118" cy="3608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9059">
                  <a:extLst>
                    <a:ext uri="{9D8B030D-6E8A-4147-A177-3AD203B41FA5}">
                      <a16:colId xmlns:a16="http://schemas.microsoft.com/office/drawing/2014/main" val="3448383411"/>
                    </a:ext>
                  </a:extLst>
                </a:gridCol>
                <a:gridCol w="8129059">
                  <a:extLst>
                    <a:ext uri="{9D8B030D-6E8A-4147-A177-3AD203B41FA5}">
                      <a16:colId xmlns:a16="http://schemas.microsoft.com/office/drawing/2014/main" val="47816944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193612"/>
                  </a:ext>
                </a:extLst>
              </a:tr>
              <a:tr h="911274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Hiring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❌ Not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789343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✅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239235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latin typeface="Orbitron Black" panose="020B0604020202020204" charset="0"/>
                        </a:rPr>
                        <a:t>✅ Critical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0457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4F6FB-71A6-7554-CBBF-448734AE9534}"/>
              </a:ext>
            </a:extLst>
          </p:cNvPr>
          <p:cNvSpPr txBox="1"/>
          <p:nvPr/>
        </p:nvSpPr>
        <p:spPr>
          <a:xfrm>
            <a:off x="595253" y="7609106"/>
            <a:ext cx="1616108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Orbitron Black" panose="020B0604020202020204" charset="0"/>
              </a:rPr>
              <a:t>👉 Don’t increase cost</a:t>
            </a:r>
            <a:br>
              <a:rPr lang="en-US" sz="4000" dirty="0">
                <a:solidFill>
                  <a:schemeClr val="bg1"/>
                </a:solidFill>
                <a:latin typeface="Orbitron Black" panose="020B0604020202020204" charset="0"/>
              </a:rPr>
            </a:br>
            <a:r>
              <a:rPr lang="en-US" sz="4000" dirty="0">
                <a:solidFill>
                  <a:schemeClr val="bg1"/>
                </a:solidFill>
                <a:latin typeface="Orbitron Black" panose="020B0604020202020204" charset="0"/>
              </a:rPr>
              <a:t>👉 Improve efficiency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  <a:latin typeface="Orbitron Black" panose="020B0604020202020204" charset="0"/>
              </a:rPr>
              <a:t>Instead of increasing headcount, the analysis suggests focusing on improving efficiency through training and automation, which delivers better results at lower cost</a:t>
            </a:r>
            <a:endParaRPr lang="en-US" sz="4000" dirty="0">
              <a:solidFill>
                <a:schemeClr val="bg1"/>
              </a:solidFill>
              <a:latin typeface="Orbitron Black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079272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92111" y="0"/>
            <a:ext cx="11494937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4305838" y="3403600"/>
            <a:ext cx="15762670" cy="68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305838" y="3403600"/>
            <a:ext cx="15762670" cy="5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6496925" y="1776941"/>
            <a:ext cx="9664642" cy="109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24000"/>
              <a:buFont typeface="Orbitron Black"/>
              <a:buNone/>
            </a:pPr>
            <a:r>
              <a:rPr lang="en-US" sz="7200" b="0" i="0" u="none" strike="noStrike" cap="none" dirty="0">
                <a:solidFill>
                  <a:srgbClr val="00E3E4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Recommendations</a:t>
            </a:r>
            <a:endParaRPr lang="en-US" sz="7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995331" y="8177970"/>
            <a:ext cx="19793560" cy="1354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Orbitron Black" panose="020B0604020202020204" charset="0"/>
                <a:ea typeface="Poppins"/>
                <a:cs typeface="Poppins"/>
                <a:sym typeface="Poppins"/>
              </a:rPr>
              <a:t>These recommendations directly address the inefficiencies identified and help in improving both speed and quality of support.</a:t>
            </a:r>
            <a:endParaRPr lang="en-US" sz="4000" b="0" i="0" u="none" strike="noStrike" cap="none" dirty="0">
              <a:solidFill>
                <a:schemeClr val="dk1"/>
              </a:solidFill>
              <a:latin typeface="Orbitron Black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CCBB4-DC5B-3893-7A5B-CE3D3C156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667" y="3464505"/>
            <a:ext cx="1402115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Train agents for complex issues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Automate repetitive requests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Improve ticket routing system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Continuously monitor KPIs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2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975" y="7937500"/>
            <a:ext cx="23790073" cy="57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1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1"/>
          <p:cNvSpPr/>
          <p:nvPr/>
        </p:nvSpPr>
        <p:spPr>
          <a:xfrm>
            <a:off x="4970837" y="787400"/>
            <a:ext cx="12278201" cy="160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8000" b="0" i="0" u="none" strike="noStrike" cap="none" dirty="0">
                <a:solidFill>
                  <a:srgbClr val="00E3E4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Business Impact</a:t>
            </a:r>
            <a:endParaRPr lang="en-US" sz="8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3035679" y="6667500"/>
            <a:ext cx="18087061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3" name="Google Shape;493;p21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5679" y="66675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1"/>
          <p:cNvSpPr/>
          <p:nvPr/>
        </p:nvSpPr>
        <p:spPr>
          <a:xfrm>
            <a:off x="4661483" y="7480300"/>
            <a:ext cx="3861283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1"/>
          <p:cNvSpPr/>
          <p:nvPr/>
        </p:nvSpPr>
        <p:spPr>
          <a:xfrm>
            <a:off x="10148568" y="7480300"/>
            <a:ext cx="3861283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" name="Google Shape;503;p21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9851" y="66675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1"/>
          <p:cNvSpPr/>
          <p:nvPr/>
        </p:nvSpPr>
        <p:spPr>
          <a:xfrm>
            <a:off x="15635654" y="7480300"/>
            <a:ext cx="3861283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19192099" y="6997700"/>
            <a:ext cx="2235479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4800"/>
              <a:buFont typeface="Orbitron"/>
              <a:buNone/>
            </a:pP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927216" y="4013200"/>
            <a:ext cx="60967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927216" y="4013200"/>
            <a:ext cx="60967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11926791" y="4013200"/>
            <a:ext cx="60967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11926791" y="4013200"/>
            <a:ext cx="60967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17363070" y="8648700"/>
            <a:ext cx="6096762" cy="2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1"/>
          <p:cNvSpPr/>
          <p:nvPr/>
        </p:nvSpPr>
        <p:spPr>
          <a:xfrm>
            <a:off x="17363070" y="8648700"/>
            <a:ext cx="6096762" cy="2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/>
          <p:nvPr/>
        </p:nvSpPr>
        <p:spPr>
          <a:xfrm>
            <a:off x="6490511" y="9029700"/>
            <a:ext cx="60967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6490511" y="9029700"/>
            <a:ext cx="60967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1"/>
          <p:cNvSpPr/>
          <p:nvPr/>
        </p:nvSpPr>
        <p:spPr>
          <a:xfrm>
            <a:off x="8569928" y="8222111"/>
            <a:ext cx="15309056" cy="2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71500" marR="0" lvl="0" indent="-571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Orbitron Black" panose="020B0604020202020204" charset="0"/>
              </a:rPr>
              <a:t>By implementing these improvements, the organization can significantly reduce resolution time, improve productivity, and enhance overall customer satisfaction</a:t>
            </a:r>
            <a:endParaRPr lang="en-US" sz="4000" b="0" i="0" u="none" strike="noStrike" cap="none" dirty="0">
              <a:solidFill>
                <a:schemeClr val="bg1"/>
              </a:solidFill>
              <a:latin typeface="Orbitron Black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9706B4-B89B-F2FE-1EEB-E4EA5955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590" y="2072249"/>
            <a:ext cx="1088310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Orbitron Black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Reduced resolution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Improved agent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Better workload balance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Increased customer satisfaction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rbitron Black" panose="020B0604020202020204" charset="0"/>
              </a:rPr>
              <a:t>Data-driven decision making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20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2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9681" y="-177800"/>
            <a:ext cx="1286670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9462683" y="1803400"/>
            <a:ext cx="1625803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9462683" y="1803400"/>
            <a:ext cx="1625803" cy="1625600"/>
          </a:xfrm>
          <a:prstGeom prst="roundRect">
            <a:avLst>
              <a:gd name="adj" fmla="val 78188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5" name="Google Shape;565;p2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7521" y="21082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3"/>
          <p:cNvSpPr/>
          <p:nvPr/>
        </p:nvSpPr>
        <p:spPr>
          <a:xfrm>
            <a:off x="9462683" y="5054600"/>
            <a:ext cx="1625803" cy="1625600"/>
          </a:xfrm>
          <a:prstGeom prst="roundRect">
            <a:avLst>
              <a:gd name="adj" fmla="val 78188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9" name="Google Shape;569;p2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7521" y="53594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3"/>
          <p:cNvSpPr/>
          <p:nvPr/>
        </p:nvSpPr>
        <p:spPr>
          <a:xfrm>
            <a:off x="9462683" y="8305800"/>
            <a:ext cx="1625803" cy="1625600"/>
          </a:xfrm>
          <a:prstGeom prst="roundRect">
            <a:avLst>
              <a:gd name="adj" fmla="val 78188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3" name="Google Shape;573;p2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7521" y="86106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3"/>
          <p:cNvSpPr/>
          <p:nvPr/>
        </p:nvSpPr>
        <p:spPr>
          <a:xfrm>
            <a:off x="9462683" y="11557000"/>
            <a:ext cx="1625803" cy="1625600"/>
          </a:xfrm>
          <a:prstGeom prst="roundRect">
            <a:avLst>
              <a:gd name="adj" fmla="val 78188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7" name="Google Shape;577;p2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7521" y="11861800"/>
            <a:ext cx="1016127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3"/>
          <p:cNvSpPr/>
          <p:nvPr/>
        </p:nvSpPr>
        <p:spPr>
          <a:xfrm>
            <a:off x="1598073" y="5801214"/>
            <a:ext cx="20589356" cy="269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57250" marR="0" lvl="0" indent="-8572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demonstrates how data can be transformed into actionable insights that directly impact business performance.</a:t>
            </a:r>
            <a:endParaRPr lang="en-US" sz="6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1598073" y="3685565"/>
            <a:ext cx="22456408" cy="160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0E3E4"/>
              </a:buClr>
              <a:buSzPts val="8000"/>
              <a:buFont typeface="Orbitron Black"/>
              <a:buNone/>
            </a:pPr>
            <a:r>
              <a:rPr lang="en-US" sz="4800" b="0" i="0" u="none" strike="noStrike" cap="none" dirty="0">
                <a:solidFill>
                  <a:srgbClr val="00E3E4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Data doesn’t just show problems — it drives smarter decisions.”</a:t>
            </a:r>
            <a:endParaRPr lang="en-US"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E88B58-81E7-CB58-C3BD-59CD6E2EE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3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780</Words>
  <Application>Microsoft Office PowerPoint</Application>
  <PresentationFormat>Custom</PresentationFormat>
  <Paragraphs>149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Poppins SemiBold</vt:lpstr>
      <vt:lpstr>Algerian</vt:lpstr>
      <vt:lpstr>Orbitron Black</vt:lpstr>
      <vt:lpstr>Orbitron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Nishanth srinivas</cp:lastModifiedBy>
  <cp:revision>5</cp:revision>
  <dcterms:created xsi:type="dcterms:W3CDTF">2023-11-03T08:21:09Z</dcterms:created>
  <dcterms:modified xsi:type="dcterms:W3CDTF">2026-04-19T04:15:00Z</dcterms:modified>
</cp:coreProperties>
</file>